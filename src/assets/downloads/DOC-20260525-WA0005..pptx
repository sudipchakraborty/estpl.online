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70" r:id="rId11"/>
    <p:sldId id="271" r:id="rId12"/>
    <p:sldId id="268" r:id="rId13"/>
    <p:sldId id="272" r:id="rId14"/>
    <p:sldId id="267" r:id="rId15"/>
    <p:sldId id="266" r:id="rId16"/>
    <p:sldId id="262" r:id="rId1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72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dip chakraborty" userId="8930b58911de15c6" providerId="LiveId" clId="{1C3471F2-889B-41CA-8951-FBEDB9570384}"/>
    <pc:docChg chg="custSel addSld delSld modSld sldOrd">
      <pc:chgData name="sudip chakraborty" userId="8930b58911de15c6" providerId="LiveId" clId="{1C3471F2-889B-41CA-8951-FBEDB9570384}" dt="2026-08-14T10:08:34.918" v="45" actId="1076"/>
      <pc:docMkLst>
        <pc:docMk/>
      </pc:docMkLst>
      <pc:sldChg chg="addSp delSp modSp new mod">
        <pc:chgData name="sudip chakraborty" userId="8930b58911de15c6" providerId="LiveId" clId="{1C3471F2-889B-41CA-8951-FBEDB9570384}" dt="2026-08-14T09:55:02.889" v="27" actId="1076"/>
        <pc:sldMkLst>
          <pc:docMk/>
          <pc:sldMk cId="1345298138" sldId="265"/>
        </pc:sldMkLst>
        <pc:picChg chg="add mod">
          <ac:chgData name="sudip chakraborty" userId="8930b58911de15c6" providerId="LiveId" clId="{1C3471F2-889B-41CA-8951-FBEDB9570384}" dt="2026-08-14T09:55:02.889" v="27" actId="1076"/>
          <ac:picMkLst>
            <pc:docMk/>
            <pc:sldMk cId="1345298138" sldId="265"/>
            <ac:picMk id="3" creationId="{F77A14AF-F0ED-E8B9-C649-D64E6350DC2D}"/>
          </ac:picMkLst>
        </pc:picChg>
        <pc:picChg chg="add del mod">
          <ac:chgData name="sudip chakraborty" userId="8930b58911de15c6" providerId="LiveId" clId="{1C3471F2-889B-41CA-8951-FBEDB9570384}" dt="2026-08-14T09:54:47.084" v="21" actId="21"/>
          <ac:picMkLst>
            <pc:docMk/>
            <pc:sldMk cId="1345298138" sldId="265"/>
            <ac:picMk id="5" creationId="{3DD46262-252E-CCEB-1679-3B9101826DCD}"/>
          </ac:picMkLst>
        </pc:picChg>
        <pc:picChg chg="add del mod">
          <ac:chgData name="sudip chakraborty" userId="8930b58911de15c6" providerId="LiveId" clId="{1C3471F2-889B-41CA-8951-FBEDB9570384}" dt="2026-08-14T09:54:31.550" v="15" actId="21"/>
          <ac:picMkLst>
            <pc:docMk/>
            <pc:sldMk cId="1345298138" sldId="265"/>
            <ac:picMk id="7" creationId="{CADF7307-0552-97E2-0C69-A62C12077A8E}"/>
          </ac:picMkLst>
        </pc:picChg>
        <pc:picChg chg="add del mod">
          <ac:chgData name="sudip chakraborty" userId="8930b58911de15c6" providerId="LiveId" clId="{1C3471F2-889B-41CA-8951-FBEDB9570384}" dt="2026-08-14T09:54:23.947" v="11" actId="21"/>
          <ac:picMkLst>
            <pc:docMk/>
            <pc:sldMk cId="1345298138" sldId="265"/>
            <ac:picMk id="9" creationId="{4469934E-1001-2AAE-9594-6FD7B152FFD8}"/>
          </ac:picMkLst>
        </pc:picChg>
        <pc:picChg chg="add del mod">
          <ac:chgData name="sudip chakraborty" userId="8930b58911de15c6" providerId="LiveId" clId="{1C3471F2-889B-41CA-8951-FBEDB9570384}" dt="2026-08-14T09:54:15.727" v="8" actId="21"/>
          <ac:picMkLst>
            <pc:docMk/>
            <pc:sldMk cId="1345298138" sldId="265"/>
            <ac:picMk id="11" creationId="{55BCA462-E9EA-6537-B3C4-1DFCCEB1F311}"/>
          </ac:picMkLst>
        </pc:picChg>
        <pc:picChg chg="add del mod">
          <ac:chgData name="sudip chakraborty" userId="8930b58911de15c6" providerId="LiveId" clId="{1C3471F2-889B-41CA-8951-FBEDB9570384}" dt="2026-08-14T09:54:07.708" v="5" actId="21"/>
          <ac:picMkLst>
            <pc:docMk/>
            <pc:sldMk cId="1345298138" sldId="265"/>
            <ac:picMk id="13" creationId="{7C483971-FF47-ACA6-67C2-7A90BD735E8C}"/>
          </ac:picMkLst>
        </pc:picChg>
      </pc:sldChg>
      <pc:sldChg chg="addSp modSp new mod ord">
        <pc:chgData name="sudip chakraborty" userId="8930b58911de15c6" providerId="LiveId" clId="{1C3471F2-889B-41CA-8951-FBEDB9570384}" dt="2026-08-14T09:55:59.789" v="41"/>
        <pc:sldMkLst>
          <pc:docMk/>
          <pc:sldMk cId="3373280629" sldId="266"/>
        </pc:sldMkLst>
        <pc:picChg chg="add mod">
          <ac:chgData name="sudip chakraborty" userId="8930b58911de15c6" providerId="LiveId" clId="{1C3471F2-889B-41CA-8951-FBEDB9570384}" dt="2026-08-14T09:54:12.764" v="7" actId="1076"/>
          <ac:picMkLst>
            <pc:docMk/>
            <pc:sldMk cId="3373280629" sldId="266"/>
            <ac:picMk id="3" creationId="{5AAADC22-24EA-5D13-E008-5667C69BCAAD}"/>
          </ac:picMkLst>
        </pc:picChg>
      </pc:sldChg>
      <pc:sldChg chg="addSp modSp add mod ord">
        <pc:chgData name="sudip chakraborty" userId="8930b58911de15c6" providerId="LiveId" clId="{1C3471F2-889B-41CA-8951-FBEDB9570384}" dt="2026-08-14T09:55:41.684" v="37"/>
        <pc:sldMkLst>
          <pc:docMk/>
          <pc:sldMk cId="3160426123" sldId="267"/>
        </pc:sldMkLst>
        <pc:picChg chg="add mod">
          <ac:chgData name="sudip chakraborty" userId="8930b58911de15c6" providerId="LiveId" clId="{1C3471F2-889B-41CA-8951-FBEDB9570384}" dt="2026-08-14T09:54:18.875" v="10" actId="1076"/>
          <ac:picMkLst>
            <pc:docMk/>
            <pc:sldMk cId="3160426123" sldId="267"/>
            <ac:picMk id="3" creationId="{FB6AFA86-E327-D302-B0B6-51341FEDC230}"/>
          </ac:picMkLst>
        </pc:picChg>
      </pc:sldChg>
      <pc:sldChg chg="addSp modSp add mod ord replId">
        <pc:chgData name="sudip chakraborty" userId="8930b58911de15c6" providerId="LiveId" clId="{1C3471F2-889B-41CA-8951-FBEDB9570384}" dt="2026-08-14T09:55:18.404" v="33"/>
        <pc:sldMkLst>
          <pc:docMk/>
          <pc:sldMk cId="2037540951" sldId="268"/>
        </pc:sldMkLst>
        <pc:picChg chg="add mod">
          <ac:chgData name="sudip chakraborty" userId="8930b58911de15c6" providerId="LiveId" clId="{1C3471F2-889B-41CA-8951-FBEDB9570384}" dt="2026-08-14T09:54:27.620" v="13" actId="1076"/>
          <ac:picMkLst>
            <pc:docMk/>
            <pc:sldMk cId="2037540951" sldId="268"/>
            <ac:picMk id="3" creationId="{5A5126AD-4224-C307-16B5-169802E97D13}"/>
          </ac:picMkLst>
        </pc:picChg>
      </pc:sldChg>
      <pc:sldChg chg="new del ord">
        <pc:chgData name="sudip chakraborty" userId="8930b58911de15c6" providerId="LiveId" clId="{1C3471F2-889B-41CA-8951-FBEDB9570384}" dt="2026-08-14T09:56:03.996" v="42" actId="2696"/>
        <pc:sldMkLst>
          <pc:docMk/>
          <pc:sldMk cId="798900224" sldId="269"/>
        </pc:sldMkLst>
      </pc:sldChg>
      <pc:sldChg chg="addSp modSp new mod ord">
        <pc:chgData name="sudip chakraborty" userId="8930b58911de15c6" providerId="LiveId" clId="{1C3471F2-889B-41CA-8951-FBEDB9570384}" dt="2026-08-14T09:55:54.278" v="39"/>
        <pc:sldMkLst>
          <pc:docMk/>
          <pc:sldMk cId="4242535582" sldId="270"/>
        </pc:sldMkLst>
        <pc:picChg chg="add mod">
          <ac:chgData name="sudip chakraborty" userId="8930b58911de15c6" providerId="LiveId" clId="{1C3471F2-889B-41CA-8951-FBEDB9570384}" dt="2026-08-14T09:54:42.803" v="19" actId="1076"/>
          <ac:picMkLst>
            <pc:docMk/>
            <pc:sldMk cId="4242535582" sldId="270"/>
            <ac:picMk id="3" creationId="{BCB46D78-9B8C-3603-B1C3-E4F95DF25159}"/>
          </ac:picMkLst>
        </pc:picChg>
      </pc:sldChg>
      <pc:sldChg chg="addSp modSp new mod">
        <pc:chgData name="sudip chakraborty" userId="8930b58911de15c6" providerId="LiveId" clId="{1C3471F2-889B-41CA-8951-FBEDB9570384}" dt="2026-08-14T09:54:55.003" v="24" actId="1076"/>
        <pc:sldMkLst>
          <pc:docMk/>
          <pc:sldMk cId="4264365257" sldId="271"/>
        </pc:sldMkLst>
        <pc:picChg chg="add mod">
          <ac:chgData name="sudip chakraborty" userId="8930b58911de15c6" providerId="LiveId" clId="{1C3471F2-889B-41CA-8951-FBEDB9570384}" dt="2026-08-14T09:54:55.003" v="24" actId="1076"/>
          <ac:picMkLst>
            <pc:docMk/>
            <pc:sldMk cId="4264365257" sldId="271"/>
            <ac:picMk id="3" creationId="{FD44AADC-22B1-AF01-03CA-5A5B24C279F2}"/>
          </ac:picMkLst>
        </pc:picChg>
      </pc:sldChg>
      <pc:sldChg chg="addSp modSp new mod">
        <pc:chgData name="sudip chakraborty" userId="8930b58911de15c6" providerId="LiveId" clId="{1C3471F2-889B-41CA-8951-FBEDB9570384}" dt="2026-08-14T10:08:34.918" v="45" actId="1076"/>
        <pc:sldMkLst>
          <pc:docMk/>
          <pc:sldMk cId="1017292107" sldId="272"/>
        </pc:sldMkLst>
        <pc:picChg chg="add mod">
          <ac:chgData name="sudip chakraborty" userId="8930b58911de15c6" providerId="LiveId" clId="{1C3471F2-889B-41CA-8951-FBEDB9570384}" dt="2026-08-14T10:08:34.918" v="45" actId="1076"/>
          <ac:picMkLst>
            <pc:docMk/>
            <pc:sldMk cId="1017292107" sldId="272"/>
            <ac:picMk id="3" creationId="{BFD5FC76-B276-95B4-F604-3282F521BEF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://www.elternsegen.ai/" TargetMode="External"/><Relationship Id="rId4" Type="http://schemas.openxmlformats.org/officeDocument/2006/relationships/hyperlink" Target="mailto:info@elternsegen.ai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5CB9"/>
          </a:solidFill>
          <a:ln>
            <a:solidFill>
              <a:srgbClr val="005C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405101" y="2743200"/>
            <a:ext cx="44741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005CB9"/>
                </a:solidFill>
                <a:latin typeface="Aptos Display"/>
              </a:defRPr>
            </a:pPr>
            <a:r>
              <a:rPr dirty="0"/>
              <a:t>ELVA Visual AI</a:t>
            </a:r>
          </a:p>
          <a:p>
            <a:pPr algn="ctr">
              <a:defRPr sz="2000">
                <a:solidFill>
                  <a:srgbClr val="232323"/>
                </a:solidFill>
                <a:latin typeface="Aptos"/>
              </a:defRPr>
            </a:pPr>
            <a:r>
              <a:rPr lang="en-IN" dirty="0"/>
              <a:t>Transforming Vision into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84587" y="3877733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8C00"/>
                </a:solidFill>
                <a:latin typeface="Aptos"/>
              </a:defRPr>
            </a:pPr>
            <a:r>
              <a:rPr dirty="0"/>
              <a:t>DETECT • VERIFY • OPTIMIZE • SECURE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B463396-3A30-9137-9327-2E62B76A64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" y="194709"/>
            <a:ext cx="2810558" cy="126928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845BE2B-8E39-4925-D03B-D1388E6886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9787" y="5149632"/>
            <a:ext cx="2889165" cy="150760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5CB9"/>
          </a:solidFill>
          <a:ln>
            <a:solidFill>
              <a:srgbClr val="005C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38392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5CB9"/>
                </a:solidFill>
                <a:latin typeface="Aptos Display"/>
              </a:defRPr>
            </a:pPr>
            <a:r>
              <a:rPr dirty="0"/>
              <a:t>What is ELVA?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3333" y="1187032"/>
            <a:ext cx="5520267" cy="4343400"/>
          </a:xfrm>
          <a:prstGeom prst="roundRect">
            <a:avLst/>
          </a:prstGeom>
          <a:solidFill>
            <a:srgbClr val="EEF1F5"/>
          </a:solidFill>
          <a:ln>
            <a:solidFill>
              <a:srgbClr val="005C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66432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CB9"/>
                </a:solidFill>
                <a:latin typeface="Aptos"/>
              </a:defRPr>
            </a:pPr>
            <a:r>
              <a:rPr dirty="0"/>
              <a:t>How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9639" y="2061805"/>
            <a:ext cx="5291349" cy="2836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rPr dirty="0"/>
              <a:t>• Ingest: 4K/</a:t>
            </a:r>
            <a:r>
              <a:rPr lang="en-US" dirty="0"/>
              <a:t>AI IoT</a:t>
            </a:r>
            <a:r>
              <a:rPr dirty="0"/>
              <a:t> cameras, microscopes, and production </a:t>
            </a:r>
            <a:endParaRPr lang="en-US" dirty="0"/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rPr dirty="0"/>
              <a:t>line cameras.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rPr dirty="0"/>
              <a:t>• Understand: AI models for OCR, detection, </a:t>
            </a:r>
            <a:endParaRPr lang="en-US" dirty="0"/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rPr dirty="0"/>
              <a:t>anomaly spotting and classification.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rPr dirty="0"/>
              <a:t>• Act: Real-time alerts, dashboards, </a:t>
            </a:r>
            <a:endParaRPr lang="en-US" dirty="0"/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rPr dirty="0"/>
              <a:t>audit trails and automation workflows.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rPr dirty="0"/>
              <a:t>• Integrate: ERP, POS, RFID, barcode systems and </a:t>
            </a:r>
            <a:endParaRPr lang="en-US" dirty="0"/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rPr dirty="0"/>
              <a:t>access control.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4412" y="1187032"/>
            <a:ext cx="5547572" cy="4343400"/>
          </a:xfrm>
          <a:prstGeom prst="roundRect">
            <a:avLst/>
          </a:prstGeom>
          <a:solidFill>
            <a:srgbClr val="F7F3EE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54771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8C00"/>
                </a:solidFill>
                <a:latin typeface="Aptos"/>
              </a:defRPr>
            </a:pPr>
            <a:r>
              <a:rPr dirty="0"/>
              <a:t>Key Differentiators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6773" y="2101432"/>
            <a:ext cx="5107094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rPr dirty="0"/>
              <a:t>• Jewellery-specific AI datasets and pre-trained models.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rPr dirty="0"/>
              <a:t>• Micron-level defect and inclusion detection.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rPr dirty="0"/>
              <a:t>• Enterprise-grade audit and security controls.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rPr dirty="0"/>
              <a:t>• Hybrid deployment with edge + cloud architecture.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804752"/>
            <a:ext cx="10972800" cy="640080"/>
          </a:xfrm>
          <a:prstGeom prst="roundRect">
            <a:avLst/>
          </a:prstGeom>
          <a:solidFill>
            <a:srgbClr val="05264E"/>
          </a:solidFill>
          <a:ln>
            <a:solidFill>
              <a:srgbClr val="052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591448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AI-Driven Security • Operational Visibility • Process Automation • Compliance Intelligence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E8E342D-0176-6B5C-61E4-D768DD3FAB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311" y="72814"/>
            <a:ext cx="2050991" cy="9262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5CB9"/>
          </a:solidFill>
          <a:ln>
            <a:solidFill>
              <a:srgbClr val="005C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5CB9"/>
                </a:solidFill>
                <a:latin typeface="Aptos Display"/>
              </a:defRPr>
            </a:pPr>
            <a:r>
              <a:rPr dirty="0"/>
              <a:t>Industry Challenges We Solve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5303520" cy="3840480"/>
          </a:xfrm>
          <a:prstGeom prst="roundRect">
            <a:avLst/>
          </a:prstGeom>
          <a:solidFill>
            <a:srgbClr val="EEF1F5"/>
          </a:solidFill>
          <a:ln>
            <a:solidFill>
              <a:srgbClr val="005C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CB9"/>
                </a:solidFill>
                <a:latin typeface="Aptos"/>
              </a:defRPr>
            </a:pPr>
            <a:r>
              <a:t>Jewellery Retail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484632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Shrinkage and pilferage detection.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Counter crowd monitoring and staff analytics.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Stock mismatch and display inconsistencies.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Customer service and operational visibility.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303520" cy="3840480"/>
          </a:xfrm>
          <a:prstGeom prst="roundRect">
            <a:avLst/>
          </a:prstGeom>
          <a:solidFill>
            <a:srgbClr val="F7F3EE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78308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8C00"/>
                </a:solidFill>
                <a:latin typeface="Aptos"/>
              </a:defRPr>
            </a:pPr>
            <a:r>
              <a:t>Manufacturing Plants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286000"/>
            <a:ext cx="484632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Micro-defect and quality inspection.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Packing and dispatch verification.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Safety and PPE compliance monitoring.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Traceability and production analytics.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669280"/>
            <a:ext cx="10972800" cy="640080"/>
          </a:xfrm>
          <a:prstGeom prst="roundRect">
            <a:avLst/>
          </a:prstGeom>
          <a:solidFill>
            <a:srgbClr val="05264E"/>
          </a:solidFill>
          <a:ln>
            <a:solidFill>
              <a:srgbClr val="052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5779008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AI-Driven Security • Operational Visibility • Process Automation • Compliance Intelligence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22E30A1-51D0-B834-90AE-564E2A02AE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311" y="72814"/>
            <a:ext cx="2050991" cy="9262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5CB9"/>
          </a:solidFill>
          <a:ln>
            <a:solidFill>
              <a:srgbClr val="005C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49076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5CB9"/>
                </a:solidFill>
                <a:latin typeface="Aptos Display"/>
              </a:defRPr>
            </a:pPr>
            <a:r>
              <a:rPr dirty="0"/>
              <a:t>Visual AI Use Cases</a:t>
            </a:r>
            <a:r>
              <a:rPr lang="en-US" dirty="0"/>
              <a:t> </a:t>
            </a:r>
            <a:r>
              <a:rPr lang="en-IN" dirty="0"/>
              <a:t>Retail Industry - Challenges 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5303520" cy="3840480"/>
          </a:xfrm>
          <a:prstGeom prst="roundRect">
            <a:avLst/>
          </a:prstGeom>
          <a:solidFill>
            <a:srgbClr val="EEF1F5"/>
          </a:solidFill>
          <a:ln>
            <a:solidFill>
              <a:srgbClr val="005C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CB9"/>
                </a:solidFill>
                <a:latin typeface="Aptos"/>
              </a:defRPr>
            </a:pPr>
            <a:r>
              <a:t>Store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484632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Customer footfall analytics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Counter-wise crowd analysis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Salesperson activity tracking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Suspicious behaviour detection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Queue and wait-time monitoring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303520" cy="3840480"/>
          </a:xfrm>
          <a:prstGeom prst="roundRect">
            <a:avLst/>
          </a:prstGeom>
          <a:solidFill>
            <a:srgbClr val="F7F3EE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78308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8C00"/>
                </a:solidFill>
                <a:latin typeface="Aptos"/>
              </a:defRPr>
            </a:pPr>
            <a:r>
              <a:t>Business Impact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286000"/>
            <a:ext cx="484632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Reduced operational losses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Improved customer engagement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Optimized staff productivity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Enhanced compliance visibility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669280"/>
            <a:ext cx="10972800" cy="640080"/>
          </a:xfrm>
          <a:prstGeom prst="roundRect">
            <a:avLst/>
          </a:prstGeom>
          <a:solidFill>
            <a:srgbClr val="05264E"/>
          </a:solidFill>
          <a:ln>
            <a:solidFill>
              <a:srgbClr val="052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5779008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AI-Driven Security • Operational Visibility • Process Automation • Compliance Intelligence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7BDC07F-B76A-EB3A-CB79-4E348C1B0C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311" y="72814"/>
            <a:ext cx="2050991" cy="9262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5CB9"/>
          </a:solidFill>
          <a:ln>
            <a:solidFill>
              <a:srgbClr val="005C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5303520" cy="3840480"/>
          </a:xfrm>
          <a:prstGeom prst="roundRect">
            <a:avLst/>
          </a:prstGeom>
          <a:solidFill>
            <a:srgbClr val="EEF1F5"/>
          </a:solidFill>
          <a:ln>
            <a:solidFill>
              <a:srgbClr val="005C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CB9"/>
                </a:solidFill>
                <a:latin typeface="Aptos"/>
              </a:defRPr>
            </a:pPr>
            <a:r>
              <a:t>Factory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484632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AI-based PDI inspection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OCR &amp; barcode verification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Surface defect detection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Packing line validation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Worker safety compliance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303520" cy="3840480"/>
          </a:xfrm>
          <a:prstGeom prst="roundRect">
            <a:avLst/>
          </a:prstGeom>
          <a:solidFill>
            <a:srgbClr val="F7F3EE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78308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8C00"/>
                </a:solidFill>
                <a:latin typeface="Aptos"/>
              </a:defRPr>
            </a:pPr>
            <a:r>
              <a:t>Operational Benefits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286000"/>
            <a:ext cx="484632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Reduced rework and wastage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Higher quality consistency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Automated inspection workflows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Improved production visibility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669280"/>
            <a:ext cx="10972800" cy="640080"/>
          </a:xfrm>
          <a:prstGeom prst="roundRect">
            <a:avLst/>
          </a:prstGeom>
          <a:solidFill>
            <a:srgbClr val="05264E"/>
          </a:solidFill>
          <a:ln>
            <a:solidFill>
              <a:srgbClr val="052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5779008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AI-Driven Security • Operational Visibility • Process Automation • Compliance Intelligence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A2B9A0-9290-CF0C-099E-9F7A231E98D0}"/>
              </a:ext>
            </a:extLst>
          </p:cNvPr>
          <p:cNvSpPr txBox="1"/>
          <p:nvPr/>
        </p:nvSpPr>
        <p:spPr>
          <a:xfrm>
            <a:off x="640080" y="502920"/>
            <a:ext cx="887493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5CB9"/>
                </a:solidFill>
                <a:latin typeface="Aptos Display"/>
              </a:defRPr>
            </a:pPr>
            <a:r>
              <a:rPr dirty="0"/>
              <a:t>Visual AI Use Cases</a:t>
            </a:r>
            <a:r>
              <a:rPr lang="en-US" dirty="0"/>
              <a:t> </a:t>
            </a:r>
            <a:r>
              <a:rPr lang="en-IN" dirty="0"/>
              <a:t>Manufacturing Industry - Challenges 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D6F996-362A-B945-63E3-A90A6C0BC5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311" y="72814"/>
            <a:ext cx="2050991" cy="9262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5CB9"/>
          </a:solidFill>
          <a:ln>
            <a:solidFill>
              <a:srgbClr val="005C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5CB9"/>
                </a:solidFill>
                <a:latin typeface="Aptos Display"/>
              </a:defRPr>
            </a:pPr>
            <a:r>
              <a:t>Advanced AI Capabilities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5303520" cy="3840480"/>
          </a:xfrm>
          <a:prstGeom prst="roundRect">
            <a:avLst/>
          </a:prstGeom>
          <a:solidFill>
            <a:srgbClr val="EEF1F5"/>
          </a:solidFill>
          <a:ln>
            <a:solidFill>
              <a:srgbClr val="005C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CB9"/>
                </a:solidFill>
                <a:latin typeface="Aptos"/>
              </a:defRPr>
            </a:pPr>
            <a:r>
              <a:t>Core Technologies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484632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Computer Vision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Object Detection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OCR &amp; Text Analytics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Behavioural AI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Predictive Intelligence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303520" cy="3840480"/>
          </a:xfrm>
          <a:prstGeom prst="roundRect">
            <a:avLst/>
          </a:prstGeom>
          <a:solidFill>
            <a:srgbClr val="F7F3EE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78308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8C00"/>
                </a:solidFill>
                <a:latin typeface="Aptos"/>
              </a:defRPr>
            </a:pPr>
            <a:r>
              <a:t>Enterprise Integration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286000"/>
            <a:ext cx="484632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ERP &amp; BI integration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Centralized AI dashboards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Cloud &amp; edge deployment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Multi-location monitoring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669280"/>
            <a:ext cx="10972800" cy="640080"/>
          </a:xfrm>
          <a:prstGeom prst="roundRect">
            <a:avLst/>
          </a:prstGeom>
          <a:solidFill>
            <a:srgbClr val="05264E"/>
          </a:solidFill>
          <a:ln>
            <a:solidFill>
              <a:srgbClr val="052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5779008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AI-Driven Security • Operational Visibility • Process Automation • Compliance Intelligence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A5813C7-B2C3-9022-A992-86A6C62232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311" y="72814"/>
            <a:ext cx="2050991" cy="9262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23D19-8F57-72A7-09ED-35BC18F0B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4B1D281-4159-D46D-02DB-A6A333592B13}"/>
              </a:ext>
            </a:extLst>
          </p:cNvPr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5CB9"/>
          </a:solidFill>
          <a:ln>
            <a:solidFill>
              <a:srgbClr val="005C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054670-75D2-6F0B-5CAF-10E239CEAC3C}"/>
              </a:ext>
            </a:extLst>
          </p:cNvPr>
          <p:cNvSpPr txBox="1"/>
          <p:nvPr/>
        </p:nvSpPr>
        <p:spPr>
          <a:xfrm>
            <a:off x="640080" y="502920"/>
            <a:ext cx="502535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5CB9"/>
                </a:solidFill>
                <a:latin typeface="Aptos Display"/>
              </a:defRPr>
            </a:pPr>
            <a:r>
              <a:rPr lang="en-US" dirty="0"/>
              <a:t>Successfully Delivered Projects</a:t>
            </a:r>
            <a:endParaRPr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4284D23-20DB-F181-F77F-907DA705661F}"/>
              </a:ext>
            </a:extLst>
          </p:cNvPr>
          <p:cNvSpPr/>
          <p:nvPr/>
        </p:nvSpPr>
        <p:spPr>
          <a:xfrm>
            <a:off x="563880" y="1427470"/>
            <a:ext cx="5303520" cy="3840480"/>
          </a:xfrm>
          <a:prstGeom prst="roundRect">
            <a:avLst/>
          </a:prstGeom>
          <a:solidFill>
            <a:srgbClr val="EEF1F5"/>
          </a:solidFill>
          <a:ln>
            <a:solidFill>
              <a:srgbClr val="005C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61C57F-C31F-21DB-EB83-9E942BCFAE9A}"/>
              </a:ext>
            </a:extLst>
          </p:cNvPr>
          <p:cNvSpPr txBox="1"/>
          <p:nvPr/>
        </p:nvSpPr>
        <p:spPr>
          <a:xfrm>
            <a:off x="2150534" y="1783080"/>
            <a:ext cx="184685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CB9"/>
                </a:solidFill>
                <a:latin typeface="Aptos"/>
              </a:defRPr>
            </a:pPr>
            <a:r>
              <a:rPr dirty="0"/>
              <a:t>Core</a:t>
            </a:r>
            <a:r>
              <a:rPr lang="en-US" dirty="0"/>
              <a:t> Use Cases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C849F7-607E-38F3-C978-526D32AFF401}"/>
              </a:ext>
            </a:extLst>
          </p:cNvPr>
          <p:cNvSpPr txBox="1"/>
          <p:nvPr/>
        </p:nvSpPr>
        <p:spPr>
          <a:xfrm>
            <a:off x="789941" y="2232822"/>
            <a:ext cx="4580467" cy="2477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500">
                <a:solidFill>
                  <a:srgbClr val="232323"/>
                </a:solidFill>
                <a:latin typeface="Aptos"/>
              </a:defRPr>
            </a:pPr>
            <a:r>
              <a:rPr lang="en-IN" sz="1500" dirty="0">
                <a:solidFill>
                  <a:srgbClr val="232323"/>
                </a:solidFill>
                <a:latin typeface="Aptos"/>
              </a:rPr>
              <a:t>AI-based retail intelligence platform.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500">
                <a:solidFill>
                  <a:srgbClr val="232323"/>
                </a:solidFill>
                <a:latin typeface="Aptos"/>
              </a:defRPr>
            </a:pPr>
            <a:r>
              <a:rPr lang="en-IN" sz="1500" dirty="0">
                <a:solidFill>
                  <a:srgbClr val="232323"/>
                </a:solidFill>
                <a:latin typeface="Aptos"/>
              </a:rPr>
              <a:t>People counting &amp; behavior analytics.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500">
                <a:solidFill>
                  <a:srgbClr val="232323"/>
                </a:solidFill>
                <a:latin typeface="Aptos"/>
              </a:defRPr>
            </a:pPr>
            <a:r>
              <a:rPr lang="en-IN" sz="1500" dirty="0">
                <a:solidFill>
                  <a:srgbClr val="232323"/>
                </a:solidFill>
                <a:latin typeface="Aptos"/>
              </a:rPr>
              <a:t>Intrusion detection systems.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500">
                <a:solidFill>
                  <a:srgbClr val="232323"/>
                </a:solidFill>
                <a:latin typeface="Aptos"/>
              </a:defRPr>
            </a:pPr>
            <a:r>
              <a:rPr lang="en-IN" sz="1500" dirty="0">
                <a:solidFill>
                  <a:srgbClr val="232323"/>
                </a:solidFill>
                <a:latin typeface="Aptos"/>
              </a:rPr>
              <a:t>Smart surveillance with automated alerts.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500">
                <a:solidFill>
                  <a:srgbClr val="232323"/>
                </a:solidFill>
                <a:latin typeface="Aptos"/>
              </a:defRPr>
            </a:pPr>
            <a:r>
              <a:rPr lang="en-IN" sz="1500" dirty="0">
                <a:solidFill>
                  <a:srgbClr val="232323"/>
                </a:solidFill>
                <a:latin typeface="Aptos"/>
              </a:rPr>
              <a:t>Planogram compliance analytics.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500">
                <a:solidFill>
                  <a:srgbClr val="232323"/>
                </a:solidFill>
                <a:latin typeface="Aptos"/>
              </a:defRPr>
            </a:pPr>
            <a:r>
              <a:rPr lang="en-IN" sz="1500" dirty="0">
                <a:solidFill>
                  <a:srgbClr val="232323"/>
                </a:solidFill>
                <a:latin typeface="Aptos"/>
              </a:rPr>
              <a:t>Workplace safety monitoring.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500">
                <a:solidFill>
                  <a:srgbClr val="232323"/>
                </a:solidFill>
                <a:latin typeface="Aptos"/>
              </a:defRPr>
            </a:pPr>
            <a:r>
              <a:rPr lang="en-IN" sz="1500" dirty="0">
                <a:solidFill>
                  <a:srgbClr val="232323"/>
                </a:solidFill>
                <a:latin typeface="Aptos"/>
              </a:rPr>
              <a:t>PDI Monitoring.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8A567FF-8885-8946-F045-AE6D7E5CAC42}"/>
              </a:ext>
            </a:extLst>
          </p:cNvPr>
          <p:cNvSpPr/>
          <p:nvPr/>
        </p:nvSpPr>
        <p:spPr>
          <a:xfrm>
            <a:off x="640080" y="5669280"/>
            <a:ext cx="10972800" cy="640080"/>
          </a:xfrm>
          <a:prstGeom prst="roundRect">
            <a:avLst/>
          </a:prstGeom>
          <a:solidFill>
            <a:srgbClr val="05264E"/>
          </a:solidFill>
          <a:ln>
            <a:solidFill>
              <a:srgbClr val="052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8E127B-F02E-D122-0E20-21F9B5CFDC67}"/>
              </a:ext>
            </a:extLst>
          </p:cNvPr>
          <p:cNvSpPr txBox="1"/>
          <p:nvPr/>
        </p:nvSpPr>
        <p:spPr>
          <a:xfrm>
            <a:off x="914400" y="5779008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AI-Driven Security • Operational Visibility • Process Automation • Compliance Intelligence</a:t>
            </a:r>
          </a:p>
        </p:txBody>
      </p:sp>
      <p:sp>
        <p:nvSpPr>
          <p:cNvPr id="12" name="Rounded Rectangle 3">
            <a:extLst>
              <a:ext uri="{FF2B5EF4-FFF2-40B4-BE49-F238E27FC236}">
                <a16:creationId xmlns:a16="http://schemas.microsoft.com/office/drawing/2014/main" id="{8F80A316-CBBF-A6CE-49E9-3B122DFAC81A}"/>
              </a:ext>
            </a:extLst>
          </p:cNvPr>
          <p:cNvSpPr/>
          <p:nvPr/>
        </p:nvSpPr>
        <p:spPr>
          <a:xfrm>
            <a:off x="6101097" y="1427470"/>
            <a:ext cx="5303520" cy="3840480"/>
          </a:xfrm>
          <a:prstGeom prst="roundRect">
            <a:avLst/>
          </a:prstGeom>
          <a:solidFill>
            <a:srgbClr val="EEF1F5"/>
          </a:solidFill>
          <a:ln>
            <a:solidFill>
              <a:srgbClr val="005C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7238FF-4F3C-340C-EFAF-26C8077886E5}"/>
              </a:ext>
            </a:extLst>
          </p:cNvPr>
          <p:cNvSpPr txBox="1"/>
          <p:nvPr/>
        </p:nvSpPr>
        <p:spPr>
          <a:xfrm>
            <a:off x="6327158" y="2232822"/>
            <a:ext cx="4580467" cy="1041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rPr lang="en-US" dirty="0"/>
              <a:t>Senco Gold Limited.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rPr lang="en-US" dirty="0" err="1"/>
              <a:t>Dhunseri</a:t>
            </a:r>
            <a:r>
              <a:rPr lang="en-US" dirty="0"/>
              <a:t> </a:t>
            </a:r>
            <a:r>
              <a:rPr lang="en-US" dirty="0" err="1"/>
              <a:t>Polyfilms</a:t>
            </a:r>
            <a:r>
              <a:rPr lang="en-US" dirty="0"/>
              <a:t> Pvt. Limited.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rPr lang="en-US" dirty="0"/>
              <a:t>Gibraltar </a:t>
            </a:r>
            <a:r>
              <a:rPr lang="en-US" dirty="0" err="1"/>
              <a:t>Airsprings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196AD35-D2EB-FA8D-7DFE-9AE737281C13}"/>
              </a:ext>
            </a:extLst>
          </p:cNvPr>
          <p:cNvSpPr txBox="1"/>
          <p:nvPr/>
        </p:nvSpPr>
        <p:spPr>
          <a:xfrm>
            <a:off x="8259772" y="1783080"/>
            <a:ext cx="94096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CB9"/>
                </a:solidFill>
                <a:latin typeface="Aptos"/>
              </a:defRPr>
            </a:pPr>
            <a:r>
              <a:rPr lang="en-US" dirty="0"/>
              <a:t>Clients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8A6555-86DD-2080-8DC4-CC17C708C7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311" y="72814"/>
            <a:ext cx="2050991" cy="9262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B71E4B9-363F-1A6E-6801-6EC08494C9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5145" y="4157125"/>
            <a:ext cx="1796111" cy="74918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9C00548-EE90-0571-93A2-0EEED94092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0968" y="4184279"/>
            <a:ext cx="1534353" cy="68820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D2958BF-F6C0-F34D-804E-95ECCE10B8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4393" y="4263604"/>
            <a:ext cx="1623201" cy="556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8780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D67F9-0955-CAF5-9144-5FB69612E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AF54E3C-17E9-0AC8-BB1A-456F97183DA5}"/>
              </a:ext>
            </a:extLst>
          </p:cNvPr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5CB9"/>
          </a:solidFill>
          <a:ln>
            <a:solidFill>
              <a:srgbClr val="005C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C76BAA-9A3C-A930-B26C-E6542D2CAC54}"/>
              </a:ext>
            </a:extLst>
          </p:cNvPr>
          <p:cNvSpPr txBox="1"/>
          <p:nvPr/>
        </p:nvSpPr>
        <p:spPr>
          <a:xfrm>
            <a:off x="216746" y="233171"/>
            <a:ext cx="503560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5CB9"/>
                </a:solidFill>
                <a:latin typeface="Aptos Display"/>
              </a:defRPr>
            </a:pPr>
            <a:r>
              <a:rPr lang="en-US" dirty="0"/>
              <a:t>Common Use Cases Detections</a:t>
            </a:r>
            <a:endParaRPr dirty="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71107DF-08FD-6912-29A2-6D74123BF570}"/>
              </a:ext>
            </a:extLst>
          </p:cNvPr>
          <p:cNvSpPr/>
          <p:nvPr/>
        </p:nvSpPr>
        <p:spPr>
          <a:xfrm>
            <a:off x="640080" y="5889417"/>
            <a:ext cx="10972800" cy="640080"/>
          </a:xfrm>
          <a:prstGeom prst="roundRect">
            <a:avLst/>
          </a:prstGeom>
          <a:solidFill>
            <a:srgbClr val="05264E"/>
          </a:solidFill>
          <a:ln>
            <a:solidFill>
              <a:srgbClr val="052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B5B1F9-89C2-054C-0769-1F30314A9FA3}"/>
              </a:ext>
            </a:extLst>
          </p:cNvPr>
          <p:cNvSpPr txBox="1"/>
          <p:nvPr/>
        </p:nvSpPr>
        <p:spPr>
          <a:xfrm>
            <a:off x="914400" y="5982211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rPr dirty="0"/>
              <a:t>AI-Driven Security • Operational Visibility • Process Automation • Compliance Intelligence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43BC2F-8434-3CC0-5E1C-33AE8C6F1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311" y="72814"/>
            <a:ext cx="2050991" cy="92625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7BC9B25-DE88-370D-4AA7-D951CA7A59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868218"/>
            <a:ext cx="3704541" cy="216003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5B43CB3-95D7-D9F5-37B9-58DB55C1E0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0442" y="914630"/>
            <a:ext cx="3458202" cy="215049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7ED87B5-7254-A13F-37D8-DB58A93A9A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789" y="3551176"/>
            <a:ext cx="3686832" cy="207653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C87BA45-20C0-CDE3-3B4B-4160CBECAE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10442" y="3463143"/>
            <a:ext cx="3458202" cy="202825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848CB0C-692A-B8DB-3A99-BD5087E9F5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93021" y="1026163"/>
            <a:ext cx="2133785" cy="425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3926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7A14AF-F0ED-E8B9-C649-D64E6350DC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86214"/>
            <a:ext cx="12188825" cy="6285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2981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B46D78-9B8C-3603-B1C3-E4F95DF251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317709"/>
            <a:ext cx="12188825" cy="6222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5355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44AADC-22B1-AF01-03CA-5A5B24C279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88825" cy="6184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3652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89CF9-CCF8-79E1-A2BC-0327BBAEF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5126AD-4224-C307-16B5-169802E97D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2359"/>
            <a:ext cx="12188825" cy="6213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5409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D5FC76-B276-95B4-F604-3282F521B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3548" y="142240"/>
            <a:ext cx="88893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2921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F1001-1889-0EE6-4860-D74761DDF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6AFA86-E327-D302-B0B6-51341FEDC2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4261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AADC22-24EA-5D13-E008-5667C69BCA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838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2806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5CB9"/>
          </a:solidFill>
          <a:ln>
            <a:solidFill>
              <a:srgbClr val="005C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175933" y="2523143"/>
            <a:ext cx="739139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5CB9"/>
                </a:solidFill>
                <a:latin typeface="Aptos Display"/>
              </a:defRPr>
            </a:pPr>
            <a:r>
              <a:rPr dirty="0"/>
              <a:t>THANK YOU</a:t>
            </a:r>
          </a:p>
          <a:p>
            <a:pPr algn="ctr">
              <a:defRPr sz="2000">
                <a:solidFill>
                  <a:srgbClr val="232323"/>
                </a:solidFill>
                <a:latin typeface="Aptos"/>
              </a:defRPr>
            </a:pPr>
            <a:r>
              <a:rPr dirty="0"/>
              <a:t>Transforming Vision into Intelligence</a:t>
            </a:r>
          </a:p>
          <a:p>
            <a:pPr algn="ctr">
              <a:defRPr sz="1600" b="1">
                <a:solidFill>
                  <a:srgbClr val="FF8C00"/>
                </a:solidFill>
                <a:latin typeface="Aptos"/>
              </a:defRPr>
            </a:pPr>
            <a:r>
              <a:rPr dirty="0"/>
              <a:t>ELVA by ESTPL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114BDA-5171-5D01-FE33-E228338250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999" y="194709"/>
            <a:ext cx="2671893" cy="126928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1802C0E-E443-2F58-6D31-EC8EEA3E80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9788" y="5149632"/>
            <a:ext cx="2807546" cy="150760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FA15593-A136-2C34-91C6-1A37F75A4A28}"/>
              </a:ext>
            </a:extLst>
          </p:cNvPr>
          <p:cNvSpPr txBox="1"/>
          <p:nvPr/>
        </p:nvSpPr>
        <p:spPr>
          <a:xfrm>
            <a:off x="4080934" y="3969097"/>
            <a:ext cx="390313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dirty="0">
                <a:solidFill>
                  <a:srgbClr val="005CB9"/>
                </a:solidFill>
                <a:latin typeface="Aptos Display"/>
              </a:rPr>
              <a:t>Address: </a:t>
            </a:r>
            <a:r>
              <a:rPr lang="en-IN" sz="1600" dirty="0" err="1">
                <a:solidFill>
                  <a:srgbClr val="005CB9"/>
                </a:solidFill>
                <a:latin typeface="Aptos Display"/>
              </a:rPr>
              <a:t>Eltern</a:t>
            </a:r>
            <a:r>
              <a:rPr lang="en-IN" sz="1600" dirty="0">
                <a:solidFill>
                  <a:srgbClr val="005CB9"/>
                </a:solidFill>
                <a:latin typeface="Aptos Display"/>
              </a:rPr>
              <a:t> Segen Technologie </a:t>
            </a:r>
            <a:r>
              <a:rPr lang="en-IN" sz="1600" dirty="0" err="1">
                <a:solidFill>
                  <a:srgbClr val="005CB9"/>
                </a:solidFill>
                <a:latin typeface="Aptos Display"/>
              </a:rPr>
              <a:t>Pvt.</a:t>
            </a:r>
            <a:r>
              <a:rPr lang="en-IN" sz="1600" dirty="0">
                <a:solidFill>
                  <a:srgbClr val="005CB9"/>
                </a:solidFill>
                <a:latin typeface="Aptos Display"/>
              </a:rPr>
              <a:t> Ltd.</a:t>
            </a:r>
          </a:p>
          <a:p>
            <a:pPr algn="ctr"/>
            <a:r>
              <a:rPr lang="en-IN" sz="1600" dirty="0">
                <a:solidFill>
                  <a:srgbClr val="005CB9"/>
                </a:solidFill>
                <a:latin typeface="Aptos Display"/>
              </a:rPr>
              <a:t>P-116 Nani Gopal Roy Chowdhury Avenue. </a:t>
            </a:r>
          </a:p>
          <a:p>
            <a:pPr algn="ctr"/>
            <a:r>
              <a:rPr lang="en-IN" sz="1600" dirty="0">
                <a:solidFill>
                  <a:srgbClr val="005CB9"/>
                </a:solidFill>
                <a:latin typeface="Aptos Display"/>
              </a:rPr>
              <a:t>Kolkata -700014</a:t>
            </a:r>
          </a:p>
          <a:p>
            <a:pPr algn="ctr"/>
            <a:r>
              <a:rPr lang="en-IN" sz="1600" dirty="0">
                <a:solidFill>
                  <a:srgbClr val="005CB9"/>
                </a:solidFill>
                <a:latin typeface="Aptos Display"/>
              </a:rPr>
              <a:t>Mail – </a:t>
            </a:r>
            <a:r>
              <a:rPr lang="en-IN" sz="1600" dirty="0">
                <a:solidFill>
                  <a:srgbClr val="005CB9"/>
                </a:solidFill>
                <a:latin typeface="Aptos Display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info@elternsegen.ai</a:t>
            </a:r>
            <a:endParaRPr lang="en-IN" sz="1600" dirty="0">
              <a:solidFill>
                <a:srgbClr val="005CB9"/>
              </a:solidFill>
              <a:latin typeface="Aptos Display"/>
            </a:endParaRPr>
          </a:p>
          <a:p>
            <a:pPr algn="ctr"/>
            <a:r>
              <a:rPr lang="en-IN" sz="1600" dirty="0">
                <a:solidFill>
                  <a:srgbClr val="005CB9"/>
                </a:solidFill>
                <a:latin typeface="Aptos Display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www.elternsegen.ai</a:t>
            </a:r>
            <a:endParaRPr lang="en-IN" sz="1600" dirty="0">
              <a:solidFill>
                <a:srgbClr val="005CB9"/>
              </a:solidFill>
              <a:latin typeface="Aptos Display"/>
            </a:endParaRPr>
          </a:p>
          <a:p>
            <a:pPr algn="ctr"/>
            <a:r>
              <a:rPr lang="en-IN" sz="1600" dirty="0">
                <a:solidFill>
                  <a:srgbClr val="005CB9"/>
                </a:solidFill>
                <a:latin typeface="Aptos Display"/>
              </a:rPr>
              <a:t>Contact - +91 98312 64720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494</Words>
  <Application>Microsoft Office PowerPoint</Application>
  <PresentationFormat>Custom</PresentationFormat>
  <Paragraphs>95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Prithwi Saha</dc:creator>
  <cp:keywords/>
  <dc:description>generated using python-pptx</dc:description>
  <cp:lastModifiedBy>sudip chakraborty</cp:lastModifiedBy>
  <cp:revision>4</cp:revision>
  <dcterms:created xsi:type="dcterms:W3CDTF">2013-01-27T09:14:16Z</dcterms:created>
  <dcterms:modified xsi:type="dcterms:W3CDTF">2026-08-14T10:08:39Z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26e4ebc-03d4-447d-a4d4-20f52cd26c4f_Enabled">
    <vt:lpwstr>true</vt:lpwstr>
  </property>
  <property fmtid="{D5CDD505-2E9C-101B-9397-08002B2CF9AE}" pid="3" name="MSIP_Label_626e4ebc-03d4-447d-a4d4-20f52cd26c4f_SetDate">
    <vt:lpwstr>2026-05-09T12:27:40Z</vt:lpwstr>
  </property>
  <property fmtid="{D5CDD505-2E9C-101B-9397-08002B2CF9AE}" pid="4" name="MSIP_Label_626e4ebc-03d4-447d-a4d4-20f52cd26c4f_Method">
    <vt:lpwstr>Privileged</vt:lpwstr>
  </property>
  <property fmtid="{D5CDD505-2E9C-101B-9397-08002B2CF9AE}" pid="5" name="MSIP_Label_626e4ebc-03d4-447d-a4d4-20f52cd26c4f_Name">
    <vt:lpwstr>Personal</vt:lpwstr>
  </property>
  <property fmtid="{D5CDD505-2E9C-101B-9397-08002B2CF9AE}" pid="6" name="MSIP_Label_626e4ebc-03d4-447d-a4d4-20f52cd26c4f_SiteId">
    <vt:lpwstr>e917aedd-dd22-49d0-ace9-ef5846c8a515</vt:lpwstr>
  </property>
  <property fmtid="{D5CDD505-2E9C-101B-9397-08002B2CF9AE}" pid="7" name="MSIP_Label_626e4ebc-03d4-447d-a4d4-20f52cd26c4f_ActionId">
    <vt:lpwstr>8a802f81-7fdd-4e40-bdd9-2c771c2d5e88</vt:lpwstr>
  </property>
  <property fmtid="{D5CDD505-2E9C-101B-9397-08002B2CF9AE}" pid="8" name="MSIP_Label_626e4ebc-03d4-447d-a4d4-20f52cd26c4f_ContentBits">
    <vt:lpwstr>0</vt:lpwstr>
  </property>
  <property fmtid="{D5CDD505-2E9C-101B-9397-08002B2CF9AE}" pid="9" name="MSIP_Label_626e4ebc-03d4-447d-a4d4-20f52cd26c4f_Tag">
    <vt:lpwstr>10, 0, 1, 1</vt:lpwstr>
  </property>
</Properties>
</file>